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47C042-9554-2443-A539-11D40D6C8051}" v="109" dt="2026-05-10T02:55:56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39"/>
  </p:normalViewPr>
  <p:slideViewPr>
    <p:cSldViewPr snapToGrid="0">
      <p:cViewPr varScale="1">
        <p:scale>
          <a:sx n="118" d="100"/>
          <a:sy n="118" d="100"/>
        </p:scale>
        <p:origin x="20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BC0C2-05D7-4DB1-B3A0-1129DC648D3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AAAD24-4291-41BD-9B0C-BCE50D4DC3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goal is to simulate a Learning Management System (LMS) such as Canvas.</a:t>
          </a:r>
        </a:p>
      </dgm:t>
    </dgm:pt>
    <dgm:pt modelId="{0DA35470-6AC1-449F-A2C2-D81EC9948D54}" type="parTrans" cxnId="{108F97B8-9E52-478B-B69A-0DE1192E44ED}">
      <dgm:prSet/>
      <dgm:spPr/>
      <dgm:t>
        <a:bodyPr/>
        <a:lstStyle/>
        <a:p>
          <a:endParaRPr lang="en-US"/>
        </a:p>
      </dgm:t>
    </dgm:pt>
    <dgm:pt modelId="{5871FBE4-51DA-4FBE-BCF9-E94D27B88198}" type="sibTrans" cxnId="{108F97B8-9E52-478B-B69A-0DE1192E44ED}">
      <dgm:prSet/>
      <dgm:spPr/>
      <dgm:t>
        <a:bodyPr/>
        <a:lstStyle/>
        <a:p>
          <a:endParaRPr lang="en-US"/>
        </a:p>
      </dgm:t>
    </dgm:pt>
    <dgm:pt modelId="{238F7339-F308-4BA2-9605-05DCEE658D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DB simulates the operations of the school in one semester. This sort of database would be rebuilt per-semester while migrating data that does not (frequently) change, such as courses and students.</a:t>
          </a:r>
        </a:p>
      </dgm:t>
    </dgm:pt>
    <dgm:pt modelId="{F4070CAB-230F-4286-8F7C-2B3012F836CE}" type="parTrans" cxnId="{CBB0581E-C80D-4814-920C-43137141FAB7}">
      <dgm:prSet/>
      <dgm:spPr/>
      <dgm:t>
        <a:bodyPr/>
        <a:lstStyle/>
        <a:p>
          <a:endParaRPr lang="en-US"/>
        </a:p>
      </dgm:t>
    </dgm:pt>
    <dgm:pt modelId="{2FB5B9B8-6C35-494F-9E3E-681E4B5C1430}" type="sibTrans" cxnId="{CBB0581E-C80D-4814-920C-43137141FAB7}">
      <dgm:prSet/>
      <dgm:spPr/>
      <dgm:t>
        <a:bodyPr/>
        <a:lstStyle/>
        <a:p>
          <a:endParaRPr lang="en-US"/>
        </a:p>
      </dgm:t>
    </dgm:pt>
    <dgm:pt modelId="{707AABFA-3D61-42C5-8A8D-1C8C86243B74}" type="pres">
      <dgm:prSet presAssocID="{F9EBC0C2-05D7-4DB1-B3A0-1129DC648D32}" presName="root" presStyleCnt="0">
        <dgm:presLayoutVars>
          <dgm:dir/>
          <dgm:resizeHandles val="exact"/>
        </dgm:presLayoutVars>
      </dgm:prSet>
      <dgm:spPr/>
    </dgm:pt>
    <dgm:pt modelId="{8C1AC425-790A-467D-8AF7-9552BEA2DD46}" type="pres">
      <dgm:prSet presAssocID="{2DAAAD24-4291-41BD-9B0C-BCE50D4DC32B}" presName="compNode" presStyleCnt="0"/>
      <dgm:spPr/>
    </dgm:pt>
    <dgm:pt modelId="{308009D0-1BA4-4DD4-8748-BFB9C7E43B35}" type="pres">
      <dgm:prSet presAssocID="{2DAAAD24-4291-41BD-9B0C-BCE50D4DC32B}" presName="bgRect" presStyleLbl="bgShp" presStyleIdx="0" presStyleCnt="2"/>
      <dgm:spPr/>
    </dgm:pt>
    <dgm:pt modelId="{4EFD0999-A9CB-49C2-928A-DA516A55C4E6}" type="pres">
      <dgm:prSet presAssocID="{2DAAAD24-4291-41BD-9B0C-BCE50D4DC32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539AA41-EB63-4AD4-BB01-646B0EBE1B18}" type="pres">
      <dgm:prSet presAssocID="{2DAAAD24-4291-41BD-9B0C-BCE50D4DC32B}" presName="spaceRect" presStyleCnt="0"/>
      <dgm:spPr/>
    </dgm:pt>
    <dgm:pt modelId="{7CCBFB7C-5238-405D-8F9C-2EDD786C5CD2}" type="pres">
      <dgm:prSet presAssocID="{2DAAAD24-4291-41BD-9B0C-BCE50D4DC32B}" presName="parTx" presStyleLbl="revTx" presStyleIdx="0" presStyleCnt="2">
        <dgm:presLayoutVars>
          <dgm:chMax val="0"/>
          <dgm:chPref val="0"/>
        </dgm:presLayoutVars>
      </dgm:prSet>
      <dgm:spPr/>
    </dgm:pt>
    <dgm:pt modelId="{A9153496-F390-4E69-B9DF-5BBB516B5D22}" type="pres">
      <dgm:prSet presAssocID="{5871FBE4-51DA-4FBE-BCF9-E94D27B88198}" presName="sibTrans" presStyleCnt="0"/>
      <dgm:spPr/>
    </dgm:pt>
    <dgm:pt modelId="{6B6020A4-2975-4535-BCCB-B2EC800B3530}" type="pres">
      <dgm:prSet presAssocID="{238F7339-F308-4BA2-9605-05DCEE658D45}" presName="compNode" presStyleCnt="0"/>
      <dgm:spPr/>
    </dgm:pt>
    <dgm:pt modelId="{FAC66A27-9AD1-4AF2-9B2A-9638630625E1}" type="pres">
      <dgm:prSet presAssocID="{238F7339-F308-4BA2-9605-05DCEE658D45}" presName="bgRect" presStyleLbl="bgShp" presStyleIdx="1" presStyleCnt="2"/>
      <dgm:spPr/>
    </dgm:pt>
    <dgm:pt modelId="{336D4688-F0D3-4A84-9C2B-9FD4745050E6}" type="pres">
      <dgm:prSet presAssocID="{238F7339-F308-4BA2-9605-05DCEE658D4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D8056F3-1B5E-476B-8DB3-DFFBFE8D9CF9}" type="pres">
      <dgm:prSet presAssocID="{238F7339-F308-4BA2-9605-05DCEE658D45}" presName="spaceRect" presStyleCnt="0"/>
      <dgm:spPr/>
    </dgm:pt>
    <dgm:pt modelId="{D3A29683-B555-46C0-9747-726DE9F9FE7D}" type="pres">
      <dgm:prSet presAssocID="{238F7339-F308-4BA2-9605-05DCEE658D4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6BB7306-15C3-4460-9E2A-6B6D8F0D2DEE}" type="presOf" srcId="{238F7339-F308-4BA2-9605-05DCEE658D45}" destId="{D3A29683-B555-46C0-9747-726DE9F9FE7D}" srcOrd="0" destOrd="0" presId="urn:microsoft.com/office/officeart/2018/2/layout/IconVerticalSolidList"/>
    <dgm:cxn modelId="{CBB0581E-C80D-4814-920C-43137141FAB7}" srcId="{F9EBC0C2-05D7-4DB1-B3A0-1129DC648D32}" destId="{238F7339-F308-4BA2-9605-05DCEE658D45}" srcOrd="1" destOrd="0" parTransId="{F4070CAB-230F-4286-8F7C-2B3012F836CE}" sibTransId="{2FB5B9B8-6C35-494F-9E3E-681E4B5C1430}"/>
    <dgm:cxn modelId="{19A17D3D-571C-47F5-AAC5-21DB7E0DE232}" type="presOf" srcId="{2DAAAD24-4291-41BD-9B0C-BCE50D4DC32B}" destId="{7CCBFB7C-5238-405D-8F9C-2EDD786C5CD2}" srcOrd="0" destOrd="0" presId="urn:microsoft.com/office/officeart/2018/2/layout/IconVerticalSolidList"/>
    <dgm:cxn modelId="{108F97B8-9E52-478B-B69A-0DE1192E44ED}" srcId="{F9EBC0C2-05D7-4DB1-B3A0-1129DC648D32}" destId="{2DAAAD24-4291-41BD-9B0C-BCE50D4DC32B}" srcOrd="0" destOrd="0" parTransId="{0DA35470-6AC1-449F-A2C2-D81EC9948D54}" sibTransId="{5871FBE4-51DA-4FBE-BCF9-E94D27B88198}"/>
    <dgm:cxn modelId="{B28B7BFA-5C91-4DCF-B29C-750737FEDF86}" type="presOf" srcId="{F9EBC0C2-05D7-4DB1-B3A0-1129DC648D32}" destId="{707AABFA-3D61-42C5-8A8D-1C8C86243B74}" srcOrd="0" destOrd="0" presId="urn:microsoft.com/office/officeart/2018/2/layout/IconVerticalSolidList"/>
    <dgm:cxn modelId="{6F1A072F-AB27-4589-8B63-DE3204D8ED2A}" type="presParOf" srcId="{707AABFA-3D61-42C5-8A8D-1C8C86243B74}" destId="{8C1AC425-790A-467D-8AF7-9552BEA2DD46}" srcOrd="0" destOrd="0" presId="urn:microsoft.com/office/officeart/2018/2/layout/IconVerticalSolidList"/>
    <dgm:cxn modelId="{CE914AC0-1F4C-461D-8047-FC78081B190F}" type="presParOf" srcId="{8C1AC425-790A-467D-8AF7-9552BEA2DD46}" destId="{308009D0-1BA4-4DD4-8748-BFB9C7E43B35}" srcOrd="0" destOrd="0" presId="urn:microsoft.com/office/officeart/2018/2/layout/IconVerticalSolidList"/>
    <dgm:cxn modelId="{C98AC706-AA38-4842-ADDB-09B0DC08A650}" type="presParOf" srcId="{8C1AC425-790A-467D-8AF7-9552BEA2DD46}" destId="{4EFD0999-A9CB-49C2-928A-DA516A55C4E6}" srcOrd="1" destOrd="0" presId="urn:microsoft.com/office/officeart/2018/2/layout/IconVerticalSolidList"/>
    <dgm:cxn modelId="{D97E0216-8290-40F0-A641-9070B25B0D70}" type="presParOf" srcId="{8C1AC425-790A-467D-8AF7-9552BEA2DD46}" destId="{A539AA41-EB63-4AD4-BB01-646B0EBE1B18}" srcOrd="2" destOrd="0" presId="urn:microsoft.com/office/officeart/2018/2/layout/IconVerticalSolidList"/>
    <dgm:cxn modelId="{5BEFD46C-8C42-4106-B3A2-F764E7CD69EA}" type="presParOf" srcId="{8C1AC425-790A-467D-8AF7-9552BEA2DD46}" destId="{7CCBFB7C-5238-405D-8F9C-2EDD786C5CD2}" srcOrd="3" destOrd="0" presId="urn:microsoft.com/office/officeart/2018/2/layout/IconVerticalSolidList"/>
    <dgm:cxn modelId="{66C9CEBD-EE14-4B08-A226-456381209B59}" type="presParOf" srcId="{707AABFA-3D61-42C5-8A8D-1C8C86243B74}" destId="{A9153496-F390-4E69-B9DF-5BBB516B5D22}" srcOrd="1" destOrd="0" presId="urn:microsoft.com/office/officeart/2018/2/layout/IconVerticalSolidList"/>
    <dgm:cxn modelId="{20EE6442-CBD6-4EBD-8F39-48DE2BFA4CB1}" type="presParOf" srcId="{707AABFA-3D61-42C5-8A8D-1C8C86243B74}" destId="{6B6020A4-2975-4535-BCCB-B2EC800B3530}" srcOrd="2" destOrd="0" presId="urn:microsoft.com/office/officeart/2018/2/layout/IconVerticalSolidList"/>
    <dgm:cxn modelId="{2F16E248-B78A-4AE0-A718-32E5F42EA582}" type="presParOf" srcId="{6B6020A4-2975-4535-BCCB-B2EC800B3530}" destId="{FAC66A27-9AD1-4AF2-9B2A-9638630625E1}" srcOrd="0" destOrd="0" presId="urn:microsoft.com/office/officeart/2018/2/layout/IconVerticalSolidList"/>
    <dgm:cxn modelId="{BBFFAFD5-6271-414D-B2F4-5F19287AA6CE}" type="presParOf" srcId="{6B6020A4-2975-4535-BCCB-B2EC800B3530}" destId="{336D4688-F0D3-4A84-9C2B-9FD4745050E6}" srcOrd="1" destOrd="0" presId="urn:microsoft.com/office/officeart/2018/2/layout/IconVerticalSolidList"/>
    <dgm:cxn modelId="{5BDD4486-0105-4DBD-B97E-EB12F843AF2F}" type="presParOf" srcId="{6B6020A4-2975-4535-BCCB-B2EC800B3530}" destId="{5D8056F3-1B5E-476B-8DB3-DFFBFE8D9CF9}" srcOrd="2" destOrd="0" presId="urn:microsoft.com/office/officeart/2018/2/layout/IconVerticalSolidList"/>
    <dgm:cxn modelId="{52EA15CC-A88E-4F50-BE2C-507FB5F89AE8}" type="presParOf" srcId="{6B6020A4-2975-4535-BCCB-B2EC800B3530}" destId="{D3A29683-B555-46C0-9747-726DE9F9FE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44F0AE-9739-4190-BCAD-738DAC44A9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B8643A-9743-40F4-BE2B-191C055A87D8}">
      <dgm:prSet/>
      <dgm:spPr/>
      <dgm:t>
        <a:bodyPr/>
        <a:lstStyle/>
        <a:p>
          <a:r>
            <a:rPr lang="en-US"/>
            <a:t>Returns one column containing all the courses the student is taking.  Joining onto classes and enrollments is necessary before getting the course.</a:t>
          </a:r>
        </a:p>
      </dgm:t>
    </dgm:pt>
    <dgm:pt modelId="{F94EA56E-075F-4C59-91DA-E757FCC100DD}" type="parTrans" cxnId="{89F744EE-538B-491C-A186-3A6C038A08BE}">
      <dgm:prSet/>
      <dgm:spPr/>
      <dgm:t>
        <a:bodyPr/>
        <a:lstStyle/>
        <a:p>
          <a:endParaRPr lang="en-US"/>
        </a:p>
      </dgm:t>
    </dgm:pt>
    <dgm:pt modelId="{A8885866-33D9-4228-892E-18AC9C82C25B}" type="sibTrans" cxnId="{89F744EE-538B-491C-A186-3A6C038A08BE}">
      <dgm:prSet/>
      <dgm:spPr/>
      <dgm:t>
        <a:bodyPr/>
        <a:lstStyle/>
        <a:p>
          <a:endParaRPr lang="en-US"/>
        </a:p>
      </dgm:t>
    </dgm:pt>
    <dgm:pt modelId="{E325FB84-3B99-42EE-93AE-704FC2C23EE1}">
      <dgm:prSet/>
      <dgm:spPr/>
      <dgm:t>
        <a:bodyPr/>
        <a:lstStyle/>
        <a:p>
          <a:r>
            <a:rPr lang="en-US"/>
            <a:t>Removing the last clause and selecting “stu.name” shows which courses each student is enrolled in.</a:t>
          </a:r>
        </a:p>
      </dgm:t>
    </dgm:pt>
    <dgm:pt modelId="{431C3ADE-1EAD-4370-A1B0-1023B6A3D0A2}" type="parTrans" cxnId="{C94DFC80-3D69-4434-9473-6A5E84FD8AF5}">
      <dgm:prSet/>
      <dgm:spPr/>
      <dgm:t>
        <a:bodyPr/>
        <a:lstStyle/>
        <a:p>
          <a:endParaRPr lang="en-US"/>
        </a:p>
      </dgm:t>
    </dgm:pt>
    <dgm:pt modelId="{F8D68EBD-503C-4E7B-B8D9-27380F465B2D}" type="sibTrans" cxnId="{C94DFC80-3D69-4434-9473-6A5E84FD8AF5}">
      <dgm:prSet/>
      <dgm:spPr/>
      <dgm:t>
        <a:bodyPr/>
        <a:lstStyle/>
        <a:p>
          <a:endParaRPr lang="en-US"/>
        </a:p>
      </dgm:t>
    </dgm:pt>
    <dgm:pt modelId="{86A1FC7C-6181-F147-9042-00269BF49204}" type="pres">
      <dgm:prSet presAssocID="{1A44F0AE-9739-4190-BCAD-738DAC44A969}" presName="linear" presStyleCnt="0">
        <dgm:presLayoutVars>
          <dgm:animLvl val="lvl"/>
          <dgm:resizeHandles val="exact"/>
        </dgm:presLayoutVars>
      </dgm:prSet>
      <dgm:spPr/>
    </dgm:pt>
    <dgm:pt modelId="{8E62FDD6-9CAE-2C43-8756-D18B854C606A}" type="pres">
      <dgm:prSet presAssocID="{53B8643A-9743-40F4-BE2B-191C055A87D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1127B3-53D2-DF45-AF6C-A2C9BF28360B}" type="pres">
      <dgm:prSet presAssocID="{A8885866-33D9-4228-892E-18AC9C82C25B}" presName="spacer" presStyleCnt="0"/>
      <dgm:spPr/>
    </dgm:pt>
    <dgm:pt modelId="{DB4F6E2E-DAF3-544F-987A-0B69C6B159C9}" type="pres">
      <dgm:prSet presAssocID="{E325FB84-3B99-42EE-93AE-704FC2C23EE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27D8156-7051-054E-AFE8-C2B46190B89B}" type="presOf" srcId="{1A44F0AE-9739-4190-BCAD-738DAC44A969}" destId="{86A1FC7C-6181-F147-9042-00269BF49204}" srcOrd="0" destOrd="0" presId="urn:microsoft.com/office/officeart/2005/8/layout/vList2"/>
    <dgm:cxn modelId="{B0EFC17C-EDA4-E441-AAC6-D30B63882AEB}" type="presOf" srcId="{53B8643A-9743-40F4-BE2B-191C055A87D8}" destId="{8E62FDD6-9CAE-2C43-8756-D18B854C606A}" srcOrd="0" destOrd="0" presId="urn:microsoft.com/office/officeart/2005/8/layout/vList2"/>
    <dgm:cxn modelId="{E37FFA7F-A321-F345-9C92-76BD5389F70F}" type="presOf" srcId="{E325FB84-3B99-42EE-93AE-704FC2C23EE1}" destId="{DB4F6E2E-DAF3-544F-987A-0B69C6B159C9}" srcOrd="0" destOrd="0" presId="urn:microsoft.com/office/officeart/2005/8/layout/vList2"/>
    <dgm:cxn modelId="{C94DFC80-3D69-4434-9473-6A5E84FD8AF5}" srcId="{1A44F0AE-9739-4190-BCAD-738DAC44A969}" destId="{E325FB84-3B99-42EE-93AE-704FC2C23EE1}" srcOrd="1" destOrd="0" parTransId="{431C3ADE-1EAD-4370-A1B0-1023B6A3D0A2}" sibTransId="{F8D68EBD-503C-4E7B-B8D9-27380F465B2D}"/>
    <dgm:cxn modelId="{89F744EE-538B-491C-A186-3A6C038A08BE}" srcId="{1A44F0AE-9739-4190-BCAD-738DAC44A969}" destId="{53B8643A-9743-40F4-BE2B-191C055A87D8}" srcOrd="0" destOrd="0" parTransId="{F94EA56E-075F-4C59-91DA-E757FCC100DD}" sibTransId="{A8885866-33D9-4228-892E-18AC9C82C25B}"/>
    <dgm:cxn modelId="{9AAB48BD-C56C-D942-9C69-FE8BE50CA2D8}" type="presParOf" srcId="{86A1FC7C-6181-F147-9042-00269BF49204}" destId="{8E62FDD6-9CAE-2C43-8756-D18B854C606A}" srcOrd="0" destOrd="0" presId="urn:microsoft.com/office/officeart/2005/8/layout/vList2"/>
    <dgm:cxn modelId="{DE841A2A-E20B-9D4D-93CE-A76D8C06016E}" type="presParOf" srcId="{86A1FC7C-6181-F147-9042-00269BF49204}" destId="{0B1127B3-53D2-DF45-AF6C-A2C9BF28360B}" srcOrd="1" destOrd="0" presId="urn:microsoft.com/office/officeart/2005/8/layout/vList2"/>
    <dgm:cxn modelId="{44891CF8-E1E1-8E41-8E52-1B311C9E9262}" type="presParOf" srcId="{86A1FC7C-6181-F147-9042-00269BF49204}" destId="{DB4F6E2E-DAF3-544F-987A-0B69C6B159C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009D0-1BA4-4DD4-8748-BFB9C7E43B35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D0999-A9CB-49C2-928A-DA516A55C4E6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BFB7C-5238-405D-8F9C-2EDD786C5CD2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goal is to simulate a Learning Management System (LMS) such as Canvas.</a:t>
          </a:r>
        </a:p>
      </dsp:txBody>
      <dsp:txXfrm>
        <a:off x="1507738" y="707092"/>
        <a:ext cx="9007861" cy="1305401"/>
      </dsp:txXfrm>
    </dsp:sp>
    <dsp:sp modelId="{FAC66A27-9AD1-4AF2-9B2A-9638630625E1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D4688-F0D3-4A84-9C2B-9FD4745050E6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29683-B555-46C0-9747-726DE9F9FE7D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DB simulates the operations of the school in one semester. This sort of database would be rebuilt per-semester while migrating data that does not (frequently) change, such as courses and students.</a:t>
          </a:r>
        </a:p>
      </dsp:txBody>
      <dsp:txXfrm>
        <a:off x="1507738" y="2338844"/>
        <a:ext cx="9007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2FDD6-9CAE-2C43-8756-D18B854C606A}">
      <dsp:nvSpPr>
        <dsp:cNvPr id="0" name=""/>
        <dsp:cNvSpPr/>
      </dsp:nvSpPr>
      <dsp:spPr>
        <a:xfrm>
          <a:off x="0" y="367654"/>
          <a:ext cx="4586513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Returns one column containing all the courses the student is taking.  Joining onto classes and enrollments is necessary before getting the course.</a:t>
          </a:r>
        </a:p>
      </dsp:txBody>
      <dsp:txXfrm>
        <a:off x="69680" y="437334"/>
        <a:ext cx="4447153" cy="1288040"/>
      </dsp:txXfrm>
    </dsp:sp>
    <dsp:sp modelId="{DB4F6E2E-DAF3-544F-987A-0B69C6B159C9}">
      <dsp:nvSpPr>
        <dsp:cNvPr id="0" name=""/>
        <dsp:cNvSpPr/>
      </dsp:nvSpPr>
      <dsp:spPr>
        <a:xfrm>
          <a:off x="0" y="1852655"/>
          <a:ext cx="4586513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Removing the last clause and selecting “stu.name” shows which courses each student is enrolled in.</a:t>
          </a:r>
        </a:p>
      </dsp:txBody>
      <dsp:txXfrm>
        <a:off x="69680" y="1922335"/>
        <a:ext cx="4447153" cy="1288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492C-8260-F6EB-9357-D5BDE673C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8706-446F-F120-2B6B-854B93760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6B73A-4637-EBAA-1764-26CB2E78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AEAC4-B724-5951-3C64-897E4F4F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1CA4E-E011-0DE4-A16E-6BDCC9E8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7B84-CE86-51DF-0FD9-BA88FF3B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6450-51F0-85D7-5CA2-15C162BC8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02DAE-8A61-77F5-7E70-A69DB630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85FA2-97F4-7BF0-335E-0DCA256B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93C1-B378-C93D-E986-AA71C593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3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1483-F220-5587-9530-C27F65A0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06A64-9798-9612-92A3-E4DB870AB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59FA5-931A-42CC-ABC9-E1CE293D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D0057-B832-77E1-64FB-79220A99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5ECC-8131-1FA9-F2C7-0A7EF9EE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2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9D33-2E7D-76CD-D7FF-0337432A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6848-02F6-E1E6-D177-82731C8F7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234F5-A0B2-AFDE-E763-39E145A8F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3BF4A-3120-8D4E-B172-3D60BDDF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7FD15-CBEC-A418-991A-AF9F8444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4A80F-1838-4B50-D8C6-2B538D61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B458-278B-A0DD-58BA-9D5D6D6C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13B46-2DF5-1FFE-AF5D-105D9EF17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20882-CB99-3508-37FA-BAEFC0F2A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FAA00-A1EA-BBE8-2ECD-663BF3E9A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63107-E869-FE97-68FB-1BB8CBF40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BA7AC-7F9C-4B44-1BC7-E4034ABB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52E115-6184-9225-B57E-4FCEC75C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D434D-A92B-FF25-F5AA-C807406B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7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591A-F675-3507-8BCE-876BFB50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F6AA6-7DA0-0BD1-633C-E99BCE4A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168A8-46F7-ED9F-9793-7BF13222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69C9A-5EA1-7419-40FB-ED18C7A1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92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AE233-35BB-8BD6-3DDD-FC00E833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1739E-A437-D7B6-5847-6551D404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9B88E-6A2B-6F7A-3E36-D15D7A0B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3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B134-695E-BF99-668D-7B9CD98E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5C44-FE74-843A-948C-3C68482A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CC72A-A907-E181-7101-5EDA81074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6B778-DF43-D930-FB9C-8AF212A2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B229B-E6C2-61BD-742E-588B0281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3C16F-933E-79FE-08AE-FB3D23DB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2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5A1C8-3B57-6509-CDC1-9842FBBB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B813E-B922-D418-85A3-50260969B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F8172-274D-21BA-FE5D-71AB6FA4D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9D1FF-B3E2-C8C4-F2F9-B07A29C9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0C890-8278-5E95-F506-238860AB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2C12B-4F33-B1EF-B252-AC103780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0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AE05-8109-8F2C-3633-54C38068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F2DC2-9463-835C-4555-69F6ADC14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8AEF5-770E-17DC-1C1F-8519B64D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8F162-782C-ECCF-3CB8-FE3B94527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5B150-495C-9C24-FAAF-78E25AB0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42CDB2-3386-767B-1418-D8CEA7F21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A693F-87C5-1D16-36D0-995ADD74D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046FB-02A5-7D6C-4C67-9C20093F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29647-589A-A1A1-1195-1734F235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5F077-9235-E164-D93D-9E28E2A6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2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5DE9C-41DA-B5F5-4CAE-E288C3F5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31557-D36C-30CD-A80E-44B6C2BF0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476C6-F0FD-B711-D669-6BCC22FE9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E6B28-26B4-8F4C-B50F-27D134C818E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0583C-B1B0-6CA5-CD06-5D5AFC9EB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20C61-27EB-15BB-319A-5AA149630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D9C0E-C976-6E40-8FC2-0A686723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8689-9902-6FA8-9800-F9F406A66B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College LMS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E2CE0-433C-77AB-69D7-2D19319E58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Joey Qytyku</a:t>
            </a:r>
          </a:p>
        </p:txBody>
      </p:sp>
    </p:spTree>
    <p:extLst>
      <p:ext uri="{BB962C8B-B14F-4D97-AF65-F5344CB8AC3E}">
        <p14:creationId xmlns:p14="http://schemas.microsoft.com/office/powerpoint/2010/main" val="107616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2F7C-92DB-A63F-E921-B7D2ADF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Purpose of the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CABD5A-F74F-9EC0-0724-45E2552A10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2598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186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C2137-5C64-8D24-1F10-B774EB5A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data set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D843-D3C1-7BFC-B70D-7AB4027F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 python script generated the data using random generation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Sources: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List of courses from Ursinus in code form (e.g. CHEM-340)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1000 different full names from the internet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This was used to create the following tables in CSV: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Students (to give them enrollment dates)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Grades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Attendance (random chance of the student attending school)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Classes (assigning students to each class)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9B99D-4A71-0B43-500C-697ECA3A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788" y="369913"/>
            <a:ext cx="3385450" cy="27845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0DE12-4A18-1E7E-2D18-4D1644772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61" y="3929310"/>
            <a:ext cx="3588640" cy="23864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2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B3F66-0C49-99A5-F41C-EF39343A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Tables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F31162-74AB-01D6-8ABF-0E058AF21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Dates and times are stored as strings in zero-padded form so that they can be lexicographically sorted.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“Enrollments” acts as a junction between classes and students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Students are enrolled in classes, not courses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Classes relate many-to-one with courses.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79FAC2-CCDC-8AAE-7D34-9B0931BD1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" r="47431" b="16579"/>
          <a:stretch>
            <a:fillRect/>
          </a:stretch>
        </p:blipFill>
        <p:spPr>
          <a:xfrm>
            <a:off x="5736771" y="0"/>
            <a:ext cx="6455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2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5C43-7473-B82E-E9E8-CD52ABB1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6CDB3-B0F3-2A52-27FC-D6A0F54F0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tasks on this database require multiple joins to work.</a:t>
            </a:r>
          </a:p>
          <a:p>
            <a:r>
              <a:rPr lang="en-US" dirty="0"/>
              <a:t>Some of the complicated grade-related queries were due to the strange choice of a double precision percentage for grades, necessitating multiplications and casts.</a:t>
            </a:r>
          </a:p>
          <a:p>
            <a:r>
              <a:rPr lang="en-US" dirty="0"/>
              <a:t>Simple queries are mostly given directly</a:t>
            </a:r>
          </a:p>
          <a:p>
            <a:r>
              <a:rPr lang="en-US" dirty="0"/>
              <a:t>Complex queries are mostly expressed as functions that return tables.</a:t>
            </a:r>
          </a:p>
          <a:p>
            <a:r>
              <a:rPr lang="en-US" dirty="0"/>
              <a:t>STRING_AGG and CAST are new features used here.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9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00CC2-F4BA-846D-E6A0-21907357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Simple task #1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551A31-134F-5E8B-B1FF-4D7598051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9138" y="1334315"/>
            <a:ext cx="5666547" cy="4646567"/>
          </a:xfrm>
          <a:prstGeom prst="rect">
            <a:avLst/>
          </a:prstGeom>
        </p:spPr>
      </p:pic>
      <p:graphicFrame>
        <p:nvGraphicFramePr>
          <p:cNvPr id="43" name="TextBox 4">
            <a:extLst>
              <a:ext uri="{FF2B5EF4-FFF2-40B4-BE49-F238E27FC236}">
                <a16:creationId xmlns:a16="http://schemas.microsoft.com/office/drawing/2014/main" id="{3137A057-D61E-1674-8A83-2806420977CB}"/>
              </a:ext>
            </a:extLst>
          </p:cNvPr>
          <p:cNvGraphicFramePr/>
          <p:nvPr/>
        </p:nvGraphicFramePr>
        <p:xfrm>
          <a:off x="897769" y="1909192"/>
          <a:ext cx="4586513" cy="3647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980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4AC19-B21D-9690-8C7E-EA4D7336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C26FE-7850-569E-9C92-10357ED0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686" y="380649"/>
            <a:ext cx="3494314" cy="16554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Simple task #2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6E2DD-7CC0-0D9A-790F-E199475D2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2224" b="2"/>
          <a:stretch>
            <a:fillRect/>
          </a:stretch>
        </p:blipFill>
        <p:spPr>
          <a:xfrm>
            <a:off x="20" y="0"/>
            <a:ext cx="8643150" cy="6408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C92F5-1FDD-4694-1ED2-639671A31EBC}"/>
              </a:ext>
            </a:extLst>
          </p:cNvPr>
          <p:cNvSpPr txBox="1"/>
          <p:nvPr/>
        </p:nvSpPr>
        <p:spPr>
          <a:xfrm>
            <a:off x="8817365" y="2124493"/>
            <a:ext cx="3211349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Uses STRING_AGG to concatenate every course taken by the student, and groups by student.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Name and comma-delimited list are returned.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8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1F8D47E-EB17-3C26-81AD-647DA41BAC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-44" r="1" b="23371"/>
          <a:stretch>
            <a:fillRect/>
          </a:stretch>
        </p:blipFill>
        <p:spPr>
          <a:xfrm>
            <a:off x="1763486" y="2893750"/>
            <a:ext cx="9910159" cy="330535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3EB898-9016-1491-590D-40E0D2D3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82309"/>
            <a:ext cx="4263824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Simple Task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E3EF-394F-356F-6619-73EB793AF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251" y="382315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This query returns the attendance rate of each student</a:t>
            </a:r>
          </a:p>
          <a:p>
            <a:r>
              <a:rPr lang="en-US" sz="1800">
                <a:solidFill>
                  <a:schemeClr val="bg1"/>
                </a:solidFill>
              </a:rPr>
              <a:t>Sorted by the students’ names</a:t>
            </a:r>
          </a:p>
          <a:p>
            <a:r>
              <a:rPr lang="en-US" sz="1800">
                <a:solidFill>
                  <a:schemeClr val="bg1"/>
                </a:solidFill>
              </a:rPr>
              <a:t>Uses COUNT(*) to get total rows, COUNT(att.date) to get the number filled</a:t>
            </a:r>
          </a:p>
          <a:p>
            <a:r>
              <a:rPr lang="en-US" sz="1800">
                <a:solidFill>
                  <a:schemeClr val="bg1"/>
                </a:solidFill>
              </a:rPr>
              <a:t>NULL dates are considered absences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73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A3257-C126-4BC5-3987-581DF125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Complex task #1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1478-415B-2750-169C-A23A432B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Gets all assignments done by the student and all the grades.</a:t>
            </a:r>
          </a:p>
          <a:p>
            <a:r>
              <a:rPr lang="en-US" sz="2000">
                <a:solidFill>
                  <a:schemeClr val="bg1"/>
                </a:solidFill>
              </a:rPr>
              <a:t>Takes name of student as VARCHAR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78ED5-4F70-63C5-079C-B65B64540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46" y="5048107"/>
            <a:ext cx="6025196" cy="13255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648C3E-308A-9A11-3D4D-B3F6AD74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27" y="1096574"/>
            <a:ext cx="4232384" cy="338590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6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B001-C03E-63BB-F35A-4C99AEACC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65125"/>
            <a:ext cx="11005457" cy="1325563"/>
          </a:xfrm>
        </p:spPr>
        <p:txBody>
          <a:bodyPr/>
          <a:lstStyle/>
          <a:p>
            <a:r>
              <a:rPr lang="en-US" dirty="0"/>
              <a:t>Complex Task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97071-C8DE-E1AE-AFD4-9462FC9A5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911788"/>
            <a:ext cx="4713514" cy="21476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Locally ranks the grades for each assignment done for every class</a:t>
            </a:r>
          </a:p>
          <a:p>
            <a:r>
              <a:rPr lang="en-US" dirty="0"/>
              <a:t>Uses DENSE_RANK and partitions by the assignment to get per-assignment ranks.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32589-0C21-AA8B-6B41-506686E7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609" y="365125"/>
            <a:ext cx="7052531" cy="391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925DE0-923E-005B-82D0-F60583E3A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609" y="4280550"/>
            <a:ext cx="7052531" cy="214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7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C8E83-F499-593D-FB56-C050795B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Complex Task #3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FFDC9-5EC1-DFC9-E511-3D4296DF0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56" y="836209"/>
            <a:ext cx="8311487" cy="23479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2503C-43DB-0464-2400-C715B299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463471"/>
            <a:ext cx="8332826" cy="111998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This query calculates the GPA of every student and ranks them in descending order.</a:t>
            </a:r>
          </a:p>
          <a:p>
            <a:r>
              <a:rPr lang="en-US" sz="2000" dirty="0"/>
              <a:t>Groups by the student ID and the name</a:t>
            </a:r>
          </a:p>
        </p:txBody>
      </p:sp>
    </p:spTree>
    <p:extLst>
      <p:ext uri="{BB962C8B-B14F-4D97-AF65-F5344CB8AC3E}">
        <p14:creationId xmlns:p14="http://schemas.microsoft.com/office/powerpoint/2010/main" val="385045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445</Words>
  <Application>Microsoft Macintosh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College LMS Database</vt:lpstr>
      <vt:lpstr>Purpose of the project</vt:lpstr>
      <vt:lpstr>The data set</vt:lpstr>
      <vt:lpstr>Tables</vt:lpstr>
      <vt:lpstr>Example Queries</vt:lpstr>
      <vt:lpstr>Simple task #1 </vt:lpstr>
      <vt:lpstr>Simple task #2</vt:lpstr>
      <vt:lpstr>Simple Task #3</vt:lpstr>
      <vt:lpstr>Complex task #1</vt:lpstr>
      <vt:lpstr>Complex Task #2</vt:lpstr>
      <vt:lpstr>Complex Task 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Qytyku, Joey</dc:creator>
  <cp:lastModifiedBy>Qytyku, Joey</cp:lastModifiedBy>
  <cp:revision>2</cp:revision>
  <dcterms:created xsi:type="dcterms:W3CDTF">2026-05-10T00:54:29Z</dcterms:created>
  <dcterms:modified xsi:type="dcterms:W3CDTF">2026-05-10T03:04:40Z</dcterms:modified>
</cp:coreProperties>
</file>